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6" r:id="rId14"/>
    <p:sldId id="341"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2" d="100"/>
          <a:sy n="72" d="100"/>
        </p:scale>
        <p:origin x="303" y="2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jp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sz="2500" b="0"/>
              <a:t>Seasonal Agriculture</a:t>
            </a:r>
            <a:br/>
            <a:r>
              <a:rPr sz="2500" b="0"/>
              <a:t>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6392" y="4577423"/>
            <a:ext cx="5164930" cy="369332"/>
          </a:xfrm>
          <a:prstGeom prst="rect">
            <a:avLst/>
          </a:prstGeom>
          <a:noFill/>
        </p:spPr>
        <p:txBody>
          <a:bodyPr wrap="square" rtlCol="0">
            <a:spAutoFit/>
          </a:bodyPr>
          <a:lstStyle/>
          <a:p>
            <a:r>
              <a:rPr sz="1500" b="1" dirty="0"/>
              <a:t>AICTE STU ID :</a:t>
            </a:r>
            <a:r>
              <a:rPr lang="en-IN" b="1" dirty="0"/>
              <a:t>STU6a5efb128e7271784609554</a:t>
            </a:r>
            <a:endParaRPr sz="1500" b="1" dirty="0"/>
          </a:p>
        </p:txBody>
      </p:sp>
      <p:sp>
        <p:nvSpPr>
          <p:cNvPr id="5" name="TextBox 4">
            <a:extLst>
              <a:ext uri="{FF2B5EF4-FFF2-40B4-BE49-F238E27FC236}">
                <a16:creationId xmlns:a16="http://schemas.microsoft.com/office/drawing/2014/main" id="{4410C3A7-EC1F-39B3-5B32-2565469A102B}"/>
              </a:ext>
            </a:extLst>
          </p:cNvPr>
          <p:cNvSpPr txBox="1"/>
          <p:nvPr/>
        </p:nvSpPr>
        <p:spPr>
          <a:xfrm>
            <a:off x="606392" y="3782728"/>
            <a:ext cx="9615637" cy="923330"/>
          </a:xfrm>
          <a:prstGeom prst="rect">
            <a:avLst/>
          </a:prstGeom>
          <a:noFill/>
        </p:spPr>
        <p:txBody>
          <a:bodyPr wrap="square" rtlCol="0">
            <a:spAutoFit/>
          </a:bodyPr>
          <a:lstStyle/>
          <a:p>
            <a:r>
              <a:rPr lang="en-US" dirty="0"/>
              <a:t>Name : Samarth Verma           </a:t>
            </a:r>
            <a:br>
              <a:rPr lang="en-US" dirty="0"/>
            </a:br>
            <a:r>
              <a:rPr lang="en-US" dirty="0"/>
              <a:t>College Name: Shri Shankaracharya Institute of Professional management and  technology , </a:t>
            </a:r>
          </a:p>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0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sz="3000" b="1"/>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sz="2800" b="1"/>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85800" y="1600200"/>
            <a:ext cx="9509760" cy="3840480"/>
          </a:xfrm>
          <a:prstGeom prst="rect">
            <a:avLst/>
          </a:prstGeom>
          <a:noFill/>
        </p:spPr>
        <p:txBody>
          <a:bodyPr wrap="square" lIns="45720" rIns="45720">
            <a:spAutoFit/>
          </a:bodyPr>
          <a:lstStyle/>
          <a:p>
            <a:pPr>
              <a:spcAft>
                <a:spcPts val="800"/>
              </a:spcAft>
            </a:pPr>
            <a:r>
              <a:rPr sz="1600">
                <a:solidFill>
                  <a:srgbClr val="2D2D2D"/>
                </a:solidFill>
                <a:latin typeface="Aptos"/>
              </a:rPr>
              <a:t>Dataset: 4,000 agricultural records covering multiple crops, states and seasons.</a:t>
            </a:r>
          </a:p>
          <a:p>
            <a:pPr>
              <a:spcAft>
                <a:spcPts val="800"/>
              </a:spcAft>
            </a:pPr>
            <a:r>
              <a:rPr sz="1600">
                <a:solidFill>
                  <a:srgbClr val="2D2D2D"/>
                </a:solidFill>
                <a:latin typeface="Aptos"/>
              </a:rPr>
              <a:t>Data preparation: checked duplicates, missing values, negative values and formula consistency before analysis.</a:t>
            </a:r>
          </a:p>
          <a:p>
            <a:pPr>
              <a:spcAft>
                <a:spcPts val="800"/>
              </a:spcAft>
            </a:pPr>
            <a:r>
              <a:rPr sz="1600">
                <a:solidFill>
                  <a:srgbClr val="2D2D2D"/>
                </a:solidFill>
                <a:latin typeface="Aptos"/>
              </a:rPr>
              <a:t>Seasonal analysis: compared yield, production, profit, water efficiency, environmental conditions and disease/pest risk.</a:t>
            </a:r>
          </a:p>
          <a:p>
            <a:pPr>
              <a:spcAft>
                <a:spcPts val="800"/>
              </a:spcAft>
            </a:pPr>
            <a:r>
              <a:rPr sz="1600">
                <a:solidFill>
                  <a:srgbClr val="2D2D2D"/>
                </a:solidFill>
                <a:latin typeface="Aptos"/>
              </a:rPr>
              <a:t>Deeper analysis: crop–season patterns, irrigation mix, state performance, correlations, outliers and statistical significance.</a:t>
            </a:r>
          </a:p>
          <a:p>
            <a:pPr>
              <a:spcAft>
                <a:spcPts val="800"/>
              </a:spcAft>
            </a:pPr>
            <a:r>
              <a:rPr sz="1600">
                <a:solidFill>
                  <a:srgbClr val="2D2D2D"/>
                </a:solidFill>
                <a:latin typeface="Aptos"/>
              </a:rPr>
              <a:t>Goal: identify which seasons perform better and explain the patterns without treating correlation as causation.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Rounded Rectangle 16"/>
          <p:cNvSpPr/>
          <p:nvPr/>
        </p:nvSpPr>
        <p:spPr>
          <a:xfrm>
            <a:off x="82296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dirty="0">
                <a:solidFill>
                  <a:srgbClr val="2D2D2D"/>
                </a:solidFill>
                <a:latin typeface="Aptos"/>
              </a:rPr>
              <a:t>Farmers &amp;</a:t>
            </a:r>
            <a:br>
              <a:rPr dirty="0"/>
            </a:br>
            <a:r>
              <a:rPr sz="1600" b="1" dirty="0">
                <a:solidFill>
                  <a:srgbClr val="2D2D2D"/>
                </a:solidFill>
                <a:latin typeface="Aptos"/>
              </a:rPr>
              <a:t>Farm Managers</a:t>
            </a:r>
            <a:br>
              <a:rPr dirty="0"/>
            </a:br>
            <a:br>
              <a:rPr dirty="0"/>
            </a:br>
            <a:r>
              <a:rPr sz="1600" b="1" dirty="0">
                <a:solidFill>
                  <a:srgbClr val="2D2D2D"/>
                </a:solidFill>
                <a:latin typeface="Aptos"/>
              </a:rPr>
              <a:t>Use seasonal yield,</a:t>
            </a:r>
            <a:br>
              <a:rPr dirty="0"/>
            </a:br>
            <a:r>
              <a:rPr sz="1600" b="1" dirty="0">
                <a:solidFill>
                  <a:srgbClr val="2D2D2D"/>
                </a:solidFill>
                <a:latin typeface="Aptos"/>
              </a:rPr>
              <a:t>profit and water insights</a:t>
            </a:r>
            <a:br>
              <a:rPr dirty="0"/>
            </a:br>
            <a:r>
              <a:rPr sz="1600" b="1" dirty="0">
                <a:solidFill>
                  <a:srgbClr val="2D2D2D"/>
                </a:solidFill>
                <a:latin typeface="Aptos"/>
              </a:rPr>
              <a:t>to support planning.</a:t>
            </a:r>
          </a:p>
        </p:txBody>
      </p:sp>
      <p:sp>
        <p:nvSpPr>
          <p:cNvPr id="18" name="Rounded Rectangle 17"/>
          <p:cNvSpPr/>
          <p:nvPr/>
        </p:nvSpPr>
        <p:spPr>
          <a:xfrm>
            <a:off x="388620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a:solidFill>
                  <a:srgbClr val="2D2D2D"/>
                </a:solidFill>
                <a:latin typeface="Aptos"/>
              </a:rPr>
              <a:t>Agricultural</a:t>
            </a:r>
            <a:br/>
            <a:r>
              <a:rPr sz="1600" b="1">
                <a:solidFill>
                  <a:srgbClr val="2D2D2D"/>
                </a:solidFill>
                <a:latin typeface="Aptos"/>
              </a:rPr>
              <a:t>Advisors</a:t>
            </a:r>
            <a:br/>
            <a:br/>
            <a:r>
              <a:rPr sz="1600" b="1">
                <a:solidFill>
                  <a:srgbClr val="2D2D2D"/>
                </a:solidFill>
                <a:latin typeface="Aptos"/>
              </a:rPr>
              <a:t>Compare crops, risks</a:t>
            </a:r>
            <a:br/>
            <a:r>
              <a:rPr sz="1600" b="1">
                <a:solidFill>
                  <a:srgbClr val="2D2D2D"/>
                </a:solidFill>
                <a:latin typeface="Aptos"/>
              </a:rPr>
              <a:t>and resource patterns</a:t>
            </a:r>
            <a:br/>
            <a:r>
              <a:rPr sz="1600" b="1">
                <a:solidFill>
                  <a:srgbClr val="2D2D2D"/>
                </a:solidFill>
                <a:latin typeface="Aptos"/>
              </a:rPr>
              <a:t>across seasons.</a:t>
            </a:r>
          </a:p>
        </p:txBody>
      </p:sp>
      <p:sp>
        <p:nvSpPr>
          <p:cNvPr id="19" name="Rounded Rectangle 18"/>
          <p:cNvSpPr/>
          <p:nvPr/>
        </p:nvSpPr>
        <p:spPr>
          <a:xfrm>
            <a:off x="6949440" y="1737360"/>
            <a:ext cx="2880360" cy="3017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600" b="1">
                <a:solidFill>
                  <a:srgbClr val="2D2D2D"/>
                </a:solidFill>
                <a:latin typeface="Aptos"/>
              </a:rPr>
              <a:t>Researchers &amp;</a:t>
            </a:r>
            <a:br/>
            <a:r>
              <a:rPr sz="1600" b="1">
                <a:solidFill>
                  <a:srgbClr val="2D2D2D"/>
                </a:solidFill>
                <a:latin typeface="Aptos"/>
              </a:rPr>
              <a:t>Policy Planners</a:t>
            </a:r>
            <a:br/>
            <a:br/>
            <a:r>
              <a:rPr sz="1600" b="1">
                <a:solidFill>
                  <a:srgbClr val="2D2D2D"/>
                </a:solidFill>
                <a:latin typeface="Aptos"/>
              </a:rPr>
              <a:t>Use evidence on seasonal</a:t>
            </a:r>
            <a:br/>
            <a:r>
              <a:rPr sz="1600" b="1">
                <a:solidFill>
                  <a:srgbClr val="2D2D2D"/>
                </a:solidFill>
                <a:latin typeface="Aptos"/>
              </a:rPr>
              <a:t>variation for further</a:t>
            </a:r>
            <a:br/>
            <a:r>
              <a:rPr sz="1600" b="1">
                <a:solidFill>
                  <a:srgbClr val="2D2D2D"/>
                </a:solidFill>
                <a:latin typeface="Aptos"/>
              </a:rPr>
              <a:t>study and interventions.</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Rounded Rectangle 16"/>
          <p:cNvSpPr/>
          <p:nvPr/>
        </p:nvSpPr>
        <p:spPr>
          <a:xfrm>
            <a:off x="73152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Python</a:t>
            </a:r>
            <a:br/>
            <a:r>
              <a:rPr sz="1500" b="1">
                <a:solidFill>
                  <a:srgbClr val="2D2D2D"/>
                </a:solidFill>
                <a:latin typeface="Aptos"/>
              </a:rPr>
              <a:t>Data analysis &amp; automation</a:t>
            </a:r>
          </a:p>
        </p:txBody>
      </p:sp>
      <p:sp>
        <p:nvSpPr>
          <p:cNvPr id="18" name="Rounded Rectangle 17"/>
          <p:cNvSpPr/>
          <p:nvPr/>
        </p:nvSpPr>
        <p:spPr>
          <a:xfrm>
            <a:off x="297180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Pandas</a:t>
            </a:r>
            <a:br/>
            <a:r>
              <a:rPr sz="1500" b="1">
                <a:solidFill>
                  <a:srgbClr val="2D2D2D"/>
                </a:solidFill>
                <a:latin typeface="Aptos"/>
              </a:rPr>
              <a:t>Data cleaning &amp; aggregation</a:t>
            </a:r>
          </a:p>
        </p:txBody>
      </p:sp>
      <p:sp>
        <p:nvSpPr>
          <p:cNvPr id="19" name="Rounded Rectangle 18"/>
          <p:cNvSpPr/>
          <p:nvPr/>
        </p:nvSpPr>
        <p:spPr>
          <a:xfrm>
            <a:off x="521208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NumPy</a:t>
            </a:r>
            <a:br/>
            <a:r>
              <a:rPr sz="1500" b="1">
                <a:solidFill>
                  <a:srgbClr val="2D2D2D"/>
                </a:solidFill>
                <a:latin typeface="Aptos"/>
              </a:rPr>
              <a:t>Numerical operations</a:t>
            </a:r>
          </a:p>
        </p:txBody>
      </p:sp>
      <p:sp>
        <p:nvSpPr>
          <p:cNvPr id="20" name="Rounded Rectangle 19"/>
          <p:cNvSpPr/>
          <p:nvPr/>
        </p:nvSpPr>
        <p:spPr>
          <a:xfrm>
            <a:off x="7452360" y="1554480"/>
            <a:ext cx="2011680" cy="114300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400" b="1">
                <a:solidFill>
                  <a:srgbClr val="2D2D2D"/>
                </a:solidFill>
                <a:latin typeface="Aptos"/>
              </a:rPr>
              <a:t>Matplotlib / Seaborn</a:t>
            </a:r>
            <a:br/>
            <a:r>
              <a:rPr sz="1400" b="1">
                <a:solidFill>
                  <a:srgbClr val="2D2D2D"/>
                </a:solidFill>
                <a:latin typeface="Aptos"/>
              </a:rPr>
              <a:t>Visualization</a:t>
            </a:r>
          </a:p>
        </p:txBody>
      </p:sp>
      <p:sp>
        <p:nvSpPr>
          <p:cNvPr id="21" name="Rounded Rectangle 20"/>
          <p:cNvSpPr/>
          <p:nvPr/>
        </p:nvSpPr>
        <p:spPr>
          <a:xfrm>
            <a:off x="18288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SciPy</a:t>
            </a:r>
            <a:br/>
            <a:r>
              <a:rPr sz="1500" b="1">
                <a:solidFill>
                  <a:srgbClr val="2D2D2D"/>
                </a:solidFill>
                <a:latin typeface="Aptos"/>
              </a:rPr>
              <a:t>ANOVA &amp; Kruskal–Wallis</a:t>
            </a:r>
          </a:p>
        </p:txBody>
      </p:sp>
      <p:sp>
        <p:nvSpPr>
          <p:cNvPr id="22" name="Rounded Rectangle 21"/>
          <p:cNvSpPr/>
          <p:nvPr/>
        </p:nvSpPr>
        <p:spPr>
          <a:xfrm>
            <a:off x="45720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Scikit-learn</a:t>
            </a:r>
            <a:br/>
            <a:r>
              <a:rPr sz="1500" b="1">
                <a:solidFill>
                  <a:srgbClr val="2D2D2D"/>
                </a:solidFill>
                <a:latin typeface="Aptos"/>
              </a:rPr>
              <a:t>Scaling for composite score</a:t>
            </a:r>
          </a:p>
        </p:txBody>
      </p:sp>
      <p:sp>
        <p:nvSpPr>
          <p:cNvPr id="23" name="Rounded Rectangle 22"/>
          <p:cNvSpPr/>
          <p:nvPr/>
        </p:nvSpPr>
        <p:spPr>
          <a:xfrm>
            <a:off x="7315200" y="3063240"/>
            <a:ext cx="2468880" cy="123444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r>
              <a:rPr sz="1500" b="1">
                <a:solidFill>
                  <a:srgbClr val="2D2D2D"/>
                </a:solidFill>
                <a:latin typeface="Aptos"/>
              </a:rPr>
              <a:t>Jupyter Notebook</a:t>
            </a:r>
            <a:br/>
            <a:r>
              <a:rPr sz="1500" b="1">
                <a:solidFill>
                  <a:srgbClr val="2D2D2D"/>
                </a:solidFill>
                <a:latin typeface="Aptos"/>
              </a:rPr>
              <a:t>Analysis &amp; reproducibility</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sp>
        <p:nvSpPr>
          <p:cNvPr id="24" name="Rounded Rectangle 23"/>
          <p:cNvSpPr/>
          <p:nvPr/>
        </p:nvSpPr>
        <p:spPr>
          <a:xfrm>
            <a:off x="59436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Highest average yield</a:t>
            </a:r>
            <a:br/>
            <a:r>
              <a:rPr sz="1500" b="1">
                <a:solidFill>
                  <a:srgbClr val="2D2D2D"/>
                </a:solidFill>
                <a:latin typeface="Aptos"/>
              </a:rPr>
              <a:t>Kharif — 5.63 t/ha</a:t>
            </a:r>
          </a:p>
        </p:txBody>
      </p:sp>
      <p:sp>
        <p:nvSpPr>
          <p:cNvPr id="25" name="Rounded Rectangle 24"/>
          <p:cNvSpPr/>
          <p:nvPr/>
        </p:nvSpPr>
        <p:spPr>
          <a:xfrm>
            <a:off x="388620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Best weighted margin</a:t>
            </a:r>
            <a:br/>
            <a:r>
              <a:rPr sz="1500" b="1">
                <a:solidFill>
                  <a:srgbClr val="2D2D2D"/>
                </a:solidFill>
                <a:latin typeface="Aptos"/>
              </a:rPr>
              <a:t>Kharif — 25.2%</a:t>
            </a:r>
          </a:p>
        </p:txBody>
      </p:sp>
      <p:sp>
        <p:nvSpPr>
          <p:cNvPr id="26" name="Rounded Rectangle 25"/>
          <p:cNvSpPr/>
          <p:nvPr/>
        </p:nvSpPr>
        <p:spPr>
          <a:xfrm>
            <a:off x="7178040" y="1325880"/>
            <a:ext cx="3063240" cy="960120"/>
          </a:xfrm>
          <a:prstGeom prst="roundRect">
            <a:avLst/>
          </a:prstGeom>
          <a:solidFill>
            <a:srgbClr val="EFF8FC"/>
          </a:solidFill>
          <a:ln>
            <a:solidFill>
              <a:srgbClr val="AAD2E1"/>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ctr"/>
            <a:r>
              <a:rPr sz="1500" b="1">
                <a:solidFill>
                  <a:srgbClr val="2D2D2D"/>
                </a:solidFill>
                <a:latin typeface="Aptos"/>
              </a:rPr>
              <a:t>Highest water efficiency</a:t>
            </a:r>
            <a:br/>
            <a:r>
              <a:rPr sz="1500" b="1">
                <a:solidFill>
                  <a:srgbClr val="2D2D2D"/>
                </a:solidFill>
                <a:latin typeface="Aptos"/>
              </a:rPr>
              <a:t>Kharif — 5.89 t/1000m³</a:t>
            </a:r>
          </a:p>
        </p:txBody>
      </p:sp>
      <p:pic>
        <p:nvPicPr>
          <p:cNvPr id="27" name="Picture 26" descr="overview.png"/>
          <p:cNvPicPr>
            <a:picLocks noChangeAspect="1"/>
          </p:cNvPicPr>
          <p:nvPr/>
        </p:nvPicPr>
        <p:blipFill>
          <a:blip r:embed="rId3"/>
          <a:stretch>
            <a:fillRect/>
          </a:stretch>
        </p:blipFill>
        <p:spPr>
          <a:xfrm>
            <a:off x="685800" y="2514600"/>
            <a:ext cx="4526280" cy="2232965"/>
          </a:xfrm>
          <a:prstGeom prst="rect">
            <a:avLst/>
          </a:prstGeom>
        </p:spPr>
      </p:pic>
      <p:pic>
        <p:nvPicPr>
          <p:cNvPr id="28" name="Picture 27" descr="profit_margin.png"/>
          <p:cNvPicPr>
            <a:picLocks noChangeAspect="1"/>
          </p:cNvPicPr>
          <p:nvPr/>
        </p:nvPicPr>
        <p:blipFill>
          <a:blip r:embed="rId4"/>
          <a:stretch>
            <a:fillRect/>
          </a:stretch>
        </p:blipFill>
        <p:spPr>
          <a:xfrm>
            <a:off x="5349240" y="2514600"/>
            <a:ext cx="4526280" cy="2232965"/>
          </a:xfrm>
          <a:prstGeom prst="rect">
            <a:avLst/>
          </a:prstGeom>
        </p:spPr>
      </p:pic>
      <p:sp>
        <p:nvSpPr>
          <p:cNvPr id="29" name="TextBox 28"/>
          <p:cNvSpPr txBox="1"/>
          <p:nvPr/>
        </p:nvSpPr>
        <p:spPr>
          <a:xfrm>
            <a:off x="777240" y="5440680"/>
            <a:ext cx="8961120" cy="365760"/>
          </a:xfrm>
          <a:prstGeom prst="rect">
            <a:avLst/>
          </a:prstGeom>
          <a:noFill/>
        </p:spPr>
        <p:txBody>
          <a:bodyPr wrap="square">
            <a:spAutoFit/>
          </a:bodyPr>
          <a:lstStyle/>
          <a:p>
            <a:pPr algn="l"/>
            <a:r>
              <a:rPr sz="1200" b="1">
                <a:solidFill>
                  <a:srgbClr val="282828"/>
                </a:solidFill>
                <a:latin typeface="Aptos"/>
              </a:rPr>
              <a:t>Overall pattern: Kharif leads on yield, profitability and water efficiency; Zaid is the weakest on these measures.</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1.png"/>
          <p:cNvPicPr>
            <a:picLocks noChangeAspect="1"/>
          </p:cNvPicPr>
          <p:nvPr/>
        </p:nvPicPr>
        <p:blipFill>
          <a:blip r:embed="rId3"/>
          <a:stretch>
            <a:fillRect/>
          </a:stretch>
        </p:blipFill>
        <p:spPr>
          <a:xfrm>
            <a:off x="502920" y="1234440"/>
            <a:ext cx="4754880" cy="2363525"/>
          </a:xfrm>
          <a:prstGeom prst="rect">
            <a:avLst/>
          </a:prstGeom>
        </p:spPr>
      </p:pic>
      <p:pic>
        <p:nvPicPr>
          <p:cNvPr id="32" name="Picture 31" descr="overview.png"/>
          <p:cNvPicPr>
            <a:picLocks noChangeAspect="1"/>
          </p:cNvPicPr>
          <p:nvPr/>
        </p:nvPicPr>
        <p:blipFill>
          <a:blip r:embed="rId4"/>
          <a:stretch>
            <a:fillRect/>
          </a:stretch>
        </p:blipFill>
        <p:spPr>
          <a:xfrm>
            <a:off x="5532120" y="1234440"/>
            <a:ext cx="4343400" cy="2142744"/>
          </a:xfrm>
          <a:prstGeom prst="rect">
            <a:avLst/>
          </a:prstGeom>
        </p:spPr>
      </p:pic>
      <p:sp>
        <p:nvSpPr>
          <p:cNvPr id="33" name="TextBox 32"/>
          <p:cNvSpPr txBox="1"/>
          <p:nvPr/>
        </p:nvSpPr>
        <p:spPr>
          <a:xfrm>
            <a:off x="685800" y="3794760"/>
            <a:ext cx="9144000" cy="1463040"/>
          </a:xfrm>
          <a:prstGeom prst="rect">
            <a:avLst/>
          </a:prstGeom>
          <a:noFill/>
        </p:spPr>
        <p:txBody>
          <a:bodyPr wrap="square" lIns="45720" rIns="45720">
            <a:spAutoFit/>
          </a:bodyPr>
          <a:lstStyle/>
          <a:p>
            <a:pPr>
              <a:spcAft>
                <a:spcPts val="800"/>
              </a:spcAft>
            </a:pPr>
            <a:r>
              <a:rPr sz="1300">
                <a:solidFill>
                  <a:srgbClr val="2D2D2D"/>
                </a:solidFill>
                <a:latin typeface="Aptos"/>
              </a:rPr>
              <a:t>Kharif: 5.63 t/ha average yield.</a:t>
            </a:r>
          </a:p>
          <a:p>
            <a:pPr>
              <a:spcAft>
                <a:spcPts val="800"/>
              </a:spcAft>
            </a:pPr>
            <a:r>
              <a:rPr sz="1300">
                <a:solidFill>
                  <a:srgbClr val="2D2D2D"/>
                </a:solidFill>
                <a:latin typeface="Aptos"/>
              </a:rPr>
              <a:t>Rabi: 5.04 t/ha; Zaid: 4.64 t/ha.</a:t>
            </a:r>
          </a:p>
          <a:p>
            <a:pPr>
              <a:spcAft>
                <a:spcPts val="800"/>
              </a:spcAft>
            </a:pPr>
            <a:r>
              <a:rPr sz="1300">
                <a:solidFill>
                  <a:srgbClr val="2D2D2D"/>
                </a:solidFill>
                <a:latin typeface="Aptos"/>
              </a:rPr>
              <a:t>Seasonal averages are useful for comparison, but crop mix differs by season, so results should not be read as a pure weather effect.</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3.png"/>
          <p:cNvPicPr>
            <a:picLocks noChangeAspect="1"/>
          </p:cNvPicPr>
          <p:nvPr/>
        </p:nvPicPr>
        <p:blipFill>
          <a:blip r:embed="rId3"/>
          <a:stretch>
            <a:fillRect/>
          </a:stretch>
        </p:blipFill>
        <p:spPr>
          <a:xfrm>
            <a:off x="502919" y="1188720"/>
            <a:ext cx="4771445" cy="2120189"/>
          </a:xfrm>
          <a:prstGeom prst="rect">
            <a:avLst/>
          </a:prstGeom>
        </p:spPr>
      </p:pic>
      <p:pic>
        <p:nvPicPr>
          <p:cNvPr id="32" name="Picture 31" descr="profit_margin.png"/>
          <p:cNvPicPr>
            <a:picLocks noChangeAspect="1"/>
          </p:cNvPicPr>
          <p:nvPr/>
        </p:nvPicPr>
        <p:blipFill>
          <a:blip r:embed="rId4"/>
          <a:stretch>
            <a:fillRect/>
          </a:stretch>
        </p:blipFill>
        <p:spPr>
          <a:xfrm>
            <a:off x="5486400" y="1188720"/>
            <a:ext cx="4297680" cy="2120189"/>
          </a:xfrm>
          <a:prstGeom prst="rect">
            <a:avLst/>
          </a:prstGeom>
        </p:spPr>
      </p:pic>
      <p:sp>
        <p:nvSpPr>
          <p:cNvPr id="33" name="TextBox 32"/>
          <p:cNvSpPr txBox="1"/>
          <p:nvPr/>
        </p:nvSpPr>
        <p:spPr>
          <a:xfrm>
            <a:off x="685800" y="3749039"/>
            <a:ext cx="9144000" cy="1554480"/>
          </a:xfrm>
          <a:prstGeom prst="rect">
            <a:avLst/>
          </a:prstGeom>
          <a:noFill/>
        </p:spPr>
        <p:txBody>
          <a:bodyPr wrap="square" lIns="45720" rIns="45720">
            <a:spAutoFit/>
          </a:bodyPr>
          <a:lstStyle/>
          <a:p>
            <a:pPr>
              <a:spcAft>
                <a:spcPts val="800"/>
              </a:spcAft>
            </a:pPr>
            <a:r>
              <a:rPr sz="1300">
                <a:solidFill>
                  <a:srgbClr val="2D2D2D"/>
                </a:solidFill>
                <a:latin typeface="Aptos"/>
              </a:rPr>
              <a:t>Weighted profit margin: Kharif 25.2%, Rabi 14.6%, Zaid -4.8%.</a:t>
            </a:r>
          </a:p>
          <a:p>
            <a:pPr>
              <a:spcAft>
                <a:spcPts val="800"/>
              </a:spcAft>
            </a:pPr>
            <a:r>
              <a:rPr sz="1300">
                <a:solidFill>
                  <a:srgbClr val="2D2D2D"/>
                </a:solidFill>
                <a:latin typeface="Aptos"/>
              </a:rPr>
              <a:t>Average profit: Kharif ₹178,915; Zaid shows an average loss of ₹24,805.</a:t>
            </a:r>
          </a:p>
          <a:p>
            <a:pPr>
              <a:spcAft>
                <a:spcPts val="800"/>
              </a:spcAft>
            </a:pPr>
            <a:r>
              <a:rPr sz="1300">
                <a:solidFill>
                  <a:srgbClr val="2D2D2D"/>
                </a:solidFill>
                <a:latin typeface="Aptos"/>
              </a:rPr>
              <a:t>Loss-making records: Kharif 42.2%, Rabi 51.1%, Zaid 64.5%.</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2.png"/>
          <p:cNvPicPr>
            <a:picLocks noChangeAspect="1"/>
          </p:cNvPicPr>
          <p:nvPr/>
        </p:nvPicPr>
        <p:blipFill>
          <a:blip r:embed="rId3"/>
          <a:stretch>
            <a:fillRect/>
          </a:stretch>
        </p:blipFill>
        <p:spPr>
          <a:xfrm>
            <a:off x="502919" y="1143000"/>
            <a:ext cx="4870837" cy="2560320"/>
          </a:xfrm>
          <a:prstGeom prst="rect">
            <a:avLst/>
          </a:prstGeom>
        </p:spPr>
      </p:pic>
      <p:pic>
        <p:nvPicPr>
          <p:cNvPr id="32" name="Picture 31" descr="irrigation.png"/>
          <p:cNvPicPr>
            <a:picLocks noChangeAspect="1"/>
          </p:cNvPicPr>
          <p:nvPr/>
        </p:nvPicPr>
        <p:blipFill>
          <a:blip r:embed="rId4"/>
          <a:stretch>
            <a:fillRect/>
          </a:stretch>
        </p:blipFill>
        <p:spPr>
          <a:xfrm>
            <a:off x="5486400" y="1143000"/>
            <a:ext cx="4297680" cy="2120189"/>
          </a:xfrm>
          <a:prstGeom prst="rect">
            <a:avLst/>
          </a:prstGeom>
        </p:spPr>
      </p:pic>
      <p:sp>
        <p:nvSpPr>
          <p:cNvPr id="33" name="TextBox 32"/>
          <p:cNvSpPr txBox="1"/>
          <p:nvPr/>
        </p:nvSpPr>
        <p:spPr>
          <a:xfrm>
            <a:off x="685800" y="3703320"/>
            <a:ext cx="9144000" cy="1645920"/>
          </a:xfrm>
          <a:prstGeom prst="rect">
            <a:avLst/>
          </a:prstGeom>
          <a:noFill/>
        </p:spPr>
        <p:txBody>
          <a:bodyPr wrap="square" lIns="45720" rIns="45720">
            <a:spAutoFit/>
          </a:bodyPr>
          <a:lstStyle/>
          <a:p>
            <a:pPr>
              <a:spcAft>
                <a:spcPts val="800"/>
              </a:spcAft>
            </a:pPr>
            <a:r>
              <a:rPr sz="1300">
                <a:solidFill>
                  <a:srgbClr val="2D2D2D"/>
                </a:solidFill>
                <a:latin typeface="Aptos"/>
              </a:rPr>
              <a:t>Average water efficiency: Kharif 5.89, Rabi 5.19, Zaid 4.41 tonnes per 1000 m³.</a:t>
            </a:r>
          </a:p>
          <a:p>
            <a:pPr>
              <a:spcAft>
                <a:spcPts val="800"/>
              </a:spcAft>
            </a:pPr>
            <a:r>
              <a:rPr sz="1300">
                <a:solidFill>
                  <a:srgbClr val="2D2D2D"/>
                </a:solidFill>
                <a:latin typeface="Aptos"/>
              </a:rPr>
              <a:t>Kharif has the strongest combined yield and water-efficiency performance in this dataset.</a:t>
            </a:r>
          </a:p>
          <a:p>
            <a:pPr>
              <a:spcAft>
                <a:spcPts val="800"/>
              </a:spcAft>
            </a:pPr>
            <a:r>
              <a:rPr sz="1300">
                <a:solidFill>
                  <a:srgbClr val="2D2D2D"/>
                </a:solidFill>
                <a:latin typeface="Aptos"/>
              </a:rPr>
              <a:t>Irrigation methods vary across seasons, providing context for resource-use differences.</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sz="3000" b="1"/>
              <a:t>RESULTS</a:t>
            </a:r>
            <a:endParaRPr lang="en-IN" dirty="0"/>
          </a:p>
        </p:txBody>
      </p:sp>
      <p:pic>
        <p:nvPicPr>
          <p:cNvPr id="31" name="Picture 30" descr="code4.png"/>
          <p:cNvPicPr>
            <a:picLocks noChangeAspect="1"/>
          </p:cNvPicPr>
          <p:nvPr/>
        </p:nvPicPr>
        <p:blipFill>
          <a:blip r:embed="rId3"/>
          <a:stretch>
            <a:fillRect/>
          </a:stretch>
        </p:blipFill>
        <p:spPr>
          <a:xfrm>
            <a:off x="502920" y="1143000"/>
            <a:ext cx="4754880" cy="2429866"/>
          </a:xfrm>
          <a:prstGeom prst="rect">
            <a:avLst/>
          </a:prstGeom>
        </p:spPr>
      </p:pic>
      <p:pic>
        <p:nvPicPr>
          <p:cNvPr id="32" name="Picture 31" descr="crop_heatmap.png"/>
          <p:cNvPicPr>
            <a:picLocks noChangeAspect="1"/>
          </p:cNvPicPr>
          <p:nvPr/>
        </p:nvPicPr>
        <p:blipFill>
          <a:blip r:embed="rId4"/>
          <a:stretch>
            <a:fillRect/>
          </a:stretch>
        </p:blipFill>
        <p:spPr>
          <a:xfrm>
            <a:off x="5486400" y="1051560"/>
            <a:ext cx="4297680" cy="2521306"/>
          </a:xfrm>
          <a:prstGeom prst="rect">
            <a:avLst/>
          </a:prstGeom>
        </p:spPr>
      </p:pic>
      <p:sp>
        <p:nvSpPr>
          <p:cNvPr id="33" name="TextBox 32"/>
          <p:cNvSpPr txBox="1"/>
          <p:nvPr/>
        </p:nvSpPr>
        <p:spPr>
          <a:xfrm>
            <a:off x="685800" y="3657600"/>
            <a:ext cx="9144000" cy="1691640"/>
          </a:xfrm>
          <a:prstGeom prst="rect">
            <a:avLst/>
          </a:prstGeom>
          <a:noFill/>
        </p:spPr>
        <p:txBody>
          <a:bodyPr wrap="square" lIns="45720" rIns="45720">
            <a:spAutoFit/>
          </a:bodyPr>
          <a:lstStyle/>
          <a:p>
            <a:pPr>
              <a:spcAft>
                <a:spcPts val="800"/>
              </a:spcAft>
            </a:pPr>
            <a:r>
              <a:rPr sz="1200">
                <a:solidFill>
                  <a:srgbClr val="2D2D2D"/>
                </a:solidFill>
                <a:latin typeface="Aptos"/>
              </a:rPr>
              <a:t>Yield ANOVA: p = 0.214 (not significant at 5%).</a:t>
            </a:r>
          </a:p>
          <a:p>
            <a:pPr>
              <a:spcAft>
                <a:spcPts val="800"/>
              </a:spcAft>
            </a:pPr>
            <a:r>
              <a:rPr sz="1200">
                <a:solidFill>
                  <a:srgbClr val="2D2D2D"/>
                </a:solidFill>
                <a:latin typeface="Aptos"/>
              </a:rPr>
              <a:t>Kruskal–Wallis yield test: p &lt; 0.001, indicating a significant difference in yield distributions across seasons.</a:t>
            </a:r>
          </a:p>
          <a:p>
            <a:pPr>
              <a:spcAft>
                <a:spcPts val="800"/>
              </a:spcAft>
            </a:pPr>
            <a:r>
              <a:rPr sz="1200">
                <a:solidFill>
                  <a:srgbClr val="2D2D2D"/>
                </a:solidFill>
                <a:latin typeface="Aptos"/>
              </a:rPr>
              <a:t>Profit differences are also statistically significant (ANOVA p &lt; 0.001).</a:t>
            </a:r>
          </a:p>
          <a:p>
            <a:pPr>
              <a:spcAft>
                <a:spcPts val="800"/>
              </a:spcAft>
            </a:pPr>
            <a:r>
              <a:rPr sz="1200">
                <a:solidFill>
                  <a:srgbClr val="2D2D2D"/>
                </a:solidFill>
                <a:latin typeface="Aptos"/>
              </a:rPr>
              <a:t>Correlation analysis shows water used has the strongest direct association with yield (r ≈ 0.39); this is an association, not proof of causation.</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sz="3000" b="1"/>
              <a:t>Future scope</a:t>
            </a:r>
          </a:p>
        </p:txBody>
      </p:sp>
      <p:sp>
        <p:nvSpPr>
          <p:cNvPr id="24" name="TextBox 23"/>
          <p:cNvSpPr txBox="1"/>
          <p:nvPr/>
        </p:nvSpPr>
        <p:spPr>
          <a:xfrm>
            <a:off x="751398" y="1418645"/>
            <a:ext cx="9144000" cy="4278094"/>
          </a:xfrm>
          <a:prstGeom prst="rect">
            <a:avLst/>
          </a:prstGeom>
          <a:noFill/>
        </p:spPr>
        <p:txBody>
          <a:bodyPr wrap="square" lIns="45720" rIns="45720">
            <a:spAutoFit/>
          </a:bodyPr>
          <a:lstStyle/>
          <a:p>
            <a:endParaRPr lang="en-IN" sz="1600" b="1" dirty="0"/>
          </a:p>
          <a:p>
            <a:r>
              <a:rPr lang="en-IN" sz="1600" dirty="0"/>
              <a:t>The Seasonal Agriculture Performance Analysis project can be further extended to provide deeper insights and support more effective agricultural planning. Future work can incorporate larger datasets covering multiple years, regions, crops, and farming conditions to identify long-term seasonal trends and improve the reliability of the analysis.</a:t>
            </a:r>
          </a:p>
          <a:p>
            <a:endParaRPr lang="en-IN" sz="1600" dirty="0"/>
          </a:p>
          <a:p>
            <a:endParaRPr lang="en-IN" sz="1600" dirty="0"/>
          </a:p>
          <a:p>
            <a:r>
              <a:rPr lang="en-IN" sz="1600" dirty="0"/>
              <a:t>The analysis can further be developed into an interactive dashboard using tools such as Power BI or Tableau, allowing farmers, agricultural planners, and other stakeholders to explore seasonal trends and compare regions or crops easily. Real-time weather and market data could also be incorporated to provide more timely insights.</a:t>
            </a:r>
          </a:p>
          <a:p>
            <a:endParaRPr lang="en-IN" sz="1600" dirty="0"/>
          </a:p>
          <a:p>
            <a:r>
              <a:rPr lang="en-IN" sz="1600" dirty="0"/>
              <a:t>In the future, the project can be expanded into a decision-support system that provides data-driven recommendations for crop selection, resource allocation, and seasonal planning. Such extensions would make the analysis more practical and useful for improving agricultural productivity and supporting evidence-based decision-making.</a:t>
            </a:r>
          </a:p>
          <a:p>
            <a:pPr>
              <a:spcAft>
                <a:spcPts val="800"/>
              </a:spcAft>
            </a:pPr>
            <a:r>
              <a:rPr sz="1600" dirty="0">
                <a:solidFill>
                  <a:srgbClr val="2D2D2D"/>
                </a:solidFill>
                <a:latin typeface="Aptos"/>
              </a:rPr>
              <a:t>.</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a:bodyPr>
          <a:lstStyle/>
          <a:p>
            <a:r>
              <a:rPr sz="2400" b="1"/>
              <a:t>VOIS Course Completion Certificate</a:t>
            </a:r>
            <a:br/>
            <a:r>
              <a:rPr sz="2400" b="1"/>
              <a:t>Course name – Data Visualization</a:t>
            </a:r>
          </a:p>
        </p:txBody>
      </p:sp>
      <p:pic>
        <p:nvPicPr>
          <p:cNvPr id="10" name="Picture 9">
            <a:extLst>
              <a:ext uri="{FF2B5EF4-FFF2-40B4-BE49-F238E27FC236}">
                <a16:creationId xmlns:a16="http://schemas.microsoft.com/office/drawing/2014/main" id="{5E704FE1-945E-2F64-BFB1-EC72452288F1}"/>
              </a:ext>
            </a:extLst>
          </p:cNvPr>
          <p:cNvPicPr>
            <a:picLocks noChangeAspect="1"/>
          </p:cNvPicPr>
          <p:nvPr/>
        </p:nvPicPr>
        <p:blipFill>
          <a:blip r:embed="rId3"/>
          <a:stretch>
            <a:fillRect/>
          </a:stretch>
        </p:blipFill>
        <p:spPr>
          <a:xfrm>
            <a:off x="5161722" y="3255249"/>
            <a:ext cx="1013533" cy="347502"/>
          </a:xfrm>
          <a:prstGeom prst="rect">
            <a:avLst/>
          </a:prstGeom>
        </p:spPr>
      </p:pic>
      <p:pic>
        <p:nvPicPr>
          <p:cNvPr id="19" name="Picture 18">
            <a:extLst>
              <a:ext uri="{FF2B5EF4-FFF2-40B4-BE49-F238E27FC236}">
                <a16:creationId xmlns:a16="http://schemas.microsoft.com/office/drawing/2014/main" id="{0848F03C-577B-63FF-4319-C542B5C69A07}"/>
              </a:ext>
            </a:extLst>
          </p:cNvPr>
          <p:cNvPicPr>
            <a:picLocks noChangeAspect="1"/>
          </p:cNvPicPr>
          <p:nvPr/>
        </p:nvPicPr>
        <p:blipFill>
          <a:blip r:embed="rId4"/>
          <a:stretch>
            <a:fillRect/>
          </a:stretch>
        </p:blipFill>
        <p:spPr>
          <a:xfrm>
            <a:off x="5413189" y="3255249"/>
            <a:ext cx="1365622" cy="347502"/>
          </a:xfrm>
          <a:prstGeom prst="rect">
            <a:avLst/>
          </a:prstGeom>
        </p:spPr>
      </p:pic>
      <p:pic>
        <p:nvPicPr>
          <p:cNvPr id="23" name="Picture 22">
            <a:extLst>
              <a:ext uri="{FF2B5EF4-FFF2-40B4-BE49-F238E27FC236}">
                <a16:creationId xmlns:a16="http://schemas.microsoft.com/office/drawing/2014/main" id="{BAA1F832-B5D4-9E4C-B248-4F3D28E10ECA}"/>
              </a:ext>
            </a:extLst>
          </p:cNvPr>
          <p:cNvPicPr>
            <a:picLocks noChangeAspect="1"/>
          </p:cNvPicPr>
          <p:nvPr/>
        </p:nvPicPr>
        <p:blipFill>
          <a:blip r:embed="rId5"/>
          <a:stretch>
            <a:fillRect/>
          </a:stretch>
        </p:blipFill>
        <p:spPr>
          <a:xfrm>
            <a:off x="1654003" y="1338470"/>
            <a:ext cx="8351388" cy="5133450"/>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4282110"/>
          </a:xfrm>
          <a:prstGeom prst="rect">
            <a:avLst/>
          </a:prstGeom>
        </p:spPr>
        <p:txBody>
          <a:bodyPr anchor="ctr">
            <a:normAutofit/>
          </a:bodyPr>
          <a:lstStyle/>
          <a:p>
            <a:pPr algn="ctr"/>
            <a:r>
              <a:rPr sz="3400" b="1" dirty="0"/>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1556</TotalTime>
  <Words>744</Words>
  <Application>Microsoft Office PowerPoint</Application>
  <PresentationFormat>Widescreen</PresentationFormat>
  <Paragraphs>58</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vt:lpstr>
      <vt:lpstr>RESULTS</vt:lpstr>
      <vt:lpstr>RESULTS</vt:lpstr>
      <vt:lpstr>RESULTS</vt:lpstr>
      <vt:lpstr>RESULTS</vt:lpstr>
      <vt:lpstr>Future scope</vt:lpstr>
      <vt:lpstr>VOIS Course Completion Certificate Course name –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samarth verma</cp:lastModifiedBy>
  <cp:revision>100</cp:revision>
  <dcterms:created xsi:type="dcterms:W3CDTF">2021-07-11T13:13:15Z</dcterms:created>
  <dcterms:modified xsi:type="dcterms:W3CDTF">2026-09-08T04:46:30Z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